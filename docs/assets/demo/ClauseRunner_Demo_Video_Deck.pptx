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55664"/>
            <a:ext cx="11201400" cy="0"/>
          </a:xfrm>
          <a:prstGeom prst="line">
            <a:avLst/>
          </a:prstGeom>
          <a:noFill/>
          <a:ln w="12700">
            <a:solidFill>
              <a:srgbClr val="DCE4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1052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A0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ClauseRunner • Agents for Humans Hackathon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922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71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for Humans Hackathon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71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554480" cy="310896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E6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649224"/>
            <a:ext cx="1207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PROFESSIONAL AGENTS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21792" y="129844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ClauseRunner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93852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Autonomous post-signature contract operations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with human-authorized execution.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97180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7FF"/>
                </a:solidFill>
              </a:rPr>
              <a:t>Built with Strands Agents SDK + AWS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3328416"/>
            <a:ext cx="3749040" cy="0"/>
          </a:xfrm>
          <a:prstGeom prst="line">
            <a:avLst/>
          </a:prstGeom>
          <a:noFill/>
          <a:ln w="12700">
            <a:solidFill>
              <a:srgbClr val="2C5A9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356616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CA0B8"/>
                </a:solidFill>
              </a:rPr>
              <a:t>Video flow: problem → live workflow → architecture → close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57800" y="713232"/>
            <a:ext cx="6400800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B4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01_ClauseRunner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472184"/>
            <a:ext cx="6144768" cy="3840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40680" y="60076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A0B8"/>
                </a:solidFill>
              </a:rPr>
              <a:t>Live AWS-hosted demo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71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problem starts after signature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Contracts are signed once. Obligations keep running.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1827"/>
                </a:solidFill>
              </a:rPr>
              <a:t>Most teams still monitor post-signature duties manually.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58368" y="1947672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</a:rPr>
              <a:t>SLAs, credits, renewals and compliance evidence live across PDFs, spreadsheets, inboxes and calendars.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852928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sx="100000" sy="100000" kx="0" ky="0" algn="bl" rotWithShape="0" blurRad="19050" dist="50800" dir="2700000">
              <a:srgbClr val="B8C5D6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2852928"/>
            <a:ext cx="73152" cy="1143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30175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</a:rPr>
              <a:t>Missed remedies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86968" y="3364992"/>
            <a:ext cx="1965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Breaches can expire before anyone claims the credit.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2852928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sx="100000" sy="100000" kx="0" ky="0" algn="bl" rotWithShape="0" blurRad="19050" dist="50800" dir="2700000">
              <a:srgbClr val="B8C5D6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852928"/>
            <a:ext cx="73152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30175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</a:rPr>
              <a:t>Manual monitoring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474720" y="3364992"/>
            <a:ext cx="1965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People repeatedly re-check contracts instead of handling exceptions.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279392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sx="100000" sy="100000" kx="0" ky="0" algn="bl" rotWithShape="0" blurRad="19050" dist="50800" dir="2700000">
              <a:srgbClr val="B8C5D6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" y="4279392"/>
            <a:ext cx="73152" cy="1143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44439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</a:rPr>
              <a:t>Weak traceability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86968" y="4791456"/>
            <a:ext cx="1965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Decisions become hard to reconstruct months later.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46120" y="4279392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sx="100000" sy="100000" kx="0" ky="0" algn="bl" rotWithShape="0" blurRad="19050" dist="50800" dir="2700000">
              <a:srgbClr val="B8C5D6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46120" y="4279392"/>
            <a:ext cx="73152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0" y="44439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</a:rPr>
              <a:t>Fragmented evidence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3474720" y="4791456"/>
            <a:ext cx="1965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Logs, approvals and follow-ups live in different systems.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80760" y="1417320"/>
            <a:ext cx="5532120" cy="4434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sx="100000" sy="100000" kx="0" ky="0" algn="bl" rotWithShape="0" blurRad="19050" dist="50800" dir="2700000">
              <a:srgbClr val="B8C5D6">
                <a:alpha val="16000"/>
              </a:srgbClr>
            </a:outerShdw>
          </a:effectLst>
        </p:spPr>
      </p:sp>
      <p:pic>
        <p:nvPicPr>
          <p:cNvPr id="23" name="Image 0" descr="/mnt/data/03_Human_Approval_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9632" y="2050161"/>
            <a:ext cx="5303520" cy="316001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309360" y="5650992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4155"/>
                </a:solidFill>
              </a:rPr>
              <a:t>The work is repetitive, judgment-heavy and consequential.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ClauseRunner turns contracts into active workflows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agentic path, with deterministic controls where it matters.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344168" cy="566928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BF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827"/>
                </a:solidFill>
              </a:rPr>
              <a:t>Contract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39112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9424" y="1508760"/>
            <a:ext cx="1344168" cy="566928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BFD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95144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827"/>
                </a:solidFill>
              </a:rPr>
              <a:t>Obligations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48456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58768" y="1508760"/>
            <a:ext cx="1344168" cy="566928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BFD2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04488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827"/>
                </a:solidFill>
              </a:rPr>
              <a:t>Evidence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257800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68112" y="1508760"/>
            <a:ext cx="1344168" cy="566928"/>
          </a:xfrm>
          <a:prstGeom prst="roundRect">
            <a:avLst/>
          </a:prstGeom>
          <a:solidFill>
            <a:srgbClr val="FFF5DB"/>
          </a:solidFill>
          <a:ln w="12700">
            <a:solidFill>
              <a:srgbClr val="BFD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827"/>
                </a:solidFill>
              </a:rPr>
              <a:t>Investigation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67144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77456" y="1508760"/>
            <a:ext cx="1344168" cy="566928"/>
          </a:xfrm>
          <a:prstGeom prst="roundRect">
            <a:avLst/>
          </a:prstGeom>
          <a:solidFill>
            <a:srgbClr val="FFF5DB"/>
          </a:solidFill>
          <a:ln w="12700">
            <a:solidFill>
              <a:srgbClr val="BFD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23176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827"/>
                </a:solidFill>
              </a:rPr>
              <a:t>Action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76488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0" y="1508760"/>
            <a:ext cx="1344168" cy="566928"/>
          </a:xfrm>
          <a:prstGeom prst="roundRect">
            <a:avLst/>
          </a:prstGeom>
          <a:solidFill>
            <a:srgbClr val="E9FBF4"/>
          </a:solidFill>
          <a:ln w="12700">
            <a:solidFill>
              <a:srgbClr val="BFD2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32520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827"/>
                </a:solidFill>
              </a:rPr>
              <a:t>Approval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085832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96144" y="1508760"/>
            <a:ext cx="1344168" cy="566928"/>
          </a:xfrm>
          <a:prstGeom prst="roundRect">
            <a:avLst/>
          </a:prstGeom>
          <a:solidFill>
            <a:srgbClr val="E9FBF4"/>
          </a:solidFill>
          <a:ln w="12700">
            <a:solidFill>
              <a:srgbClr val="BFD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41864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827"/>
                </a:solidFill>
              </a:rPr>
              <a:t>Audit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" y="2487168"/>
            <a:ext cx="2423160" cy="1307592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" y="26060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CONTRACTUAL SLA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" y="283464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D4ED8"/>
                </a:solidFill>
              </a:rPr>
              <a:t>99.9%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822960" y="3328416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monthly uptime commitment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310128" y="2487168"/>
            <a:ext cx="2423160" cy="1307592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0" y="26060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OBSERVED EVIDENCE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474720" y="283464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C2626"/>
                </a:solidFill>
              </a:rPr>
              <a:t>99.4%</a:t>
            </a:r>
            <a:endParaRPr lang="en-US" sz="2500" dirty="0"/>
          </a:p>
        </p:txBody>
      </p:sp>
      <p:sp>
        <p:nvSpPr>
          <p:cNvPr id="31" name="Text 29"/>
          <p:cNvSpPr/>
          <p:nvPr/>
        </p:nvSpPr>
        <p:spPr>
          <a:xfrm>
            <a:off x="3447288" y="3328416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verified breach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34456" y="2487168"/>
            <a:ext cx="2423160" cy="1307592"/>
          </a:xfrm>
          <a:prstGeom prst="roundRect">
            <a:avLst/>
          </a:prstGeom>
          <a:solidFill>
            <a:srgbClr val="FFF5DB"/>
          </a:solidFill>
          <a:ln w="12700">
            <a:solidFill>
              <a:srgbClr val="FFF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99048" y="26060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PROPOSED REMEDY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099048" y="283464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7706"/>
                </a:solidFill>
              </a:rPr>
              <a:t>$500</a:t>
            </a:r>
            <a:endParaRPr lang="en-US" sz="2500" dirty="0"/>
          </a:p>
        </p:txBody>
      </p:sp>
      <p:sp>
        <p:nvSpPr>
          <p:cNvPr id="35" name="Text 33"/>
          <p:cNvSpPr/>
          <p:nvPr/>
        </p:nvSpPr>
        <p:spPr>
          <a:xfrm>
            <a:off x="6071616" y="3328416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10% service credit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558784" y="2487168"/>
            <a:ext cx="2423160" cy="1307592"/>
          </a:xfrm>
          <a:prstGeom prst="roundRect">
            <a:avLst/>
          </a:prstGeom>
          <a:solidFill>
            <a:srgbClr val="E9FBF4"/>
          </a:solidFill>
          <a:ln w="12700">
            <a:solidFill>
              <a:srgbClr val="E9FB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23376" y="26060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EXECUTION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723376" y="283464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F9F6E"/>
                </a:solidFill>
              </a:rPr>
              <a:t>BLOCKED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8695944" y="3328416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until human approval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5800" y="4224528"/>
            <a:ext cx="1092708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0120" y="44988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Golden SLA demo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2788920" y="4425696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Evidence shows a breach. ClauseRunner prepares the remedy. Policy-in-code prevents execution until approval is persisted.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2788920" y="51846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</a:rPr>
              <a:t>Agentic investigation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074920" y="5184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</a:rPr>
              <a:t>Deterministic policy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114032" y="5184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9F6E"/>
                </a:solidFill>
              </a:rPr>
              <a:t>Human authority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9144000" y="5184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28D9"/>
                </a:solidFill>
              </a:rPr>
              <a:t>Auditable outcome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Autonomy is bounded by approval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can investigate and prepare. Consequential actions need human authority.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6400800" cy="4526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sx="100000" sy="100000" kx="0" ky="0" algn="bl" rotWithShape="0" blurRad="19050" dist="50800" dir="2700000">
              <a:srgbClr val="B8C5D6">
                <a:alpha val="16000"/>
              </a:srgbClr>
            </a:outerShdw>
          </a:effectLst>
        </p:spPr>
      </p:sp>
      <p:pic>
        <p:nvPicPr>
          <p:cNvPr id="5" name="Image 0" descr="/mnt/data/03_Human_Approval_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49831"/>
            <a:ext cx="6144768" cy="366125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42632" y="1627632"/>
            <a:ext cx="4251960" cy="39502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99248" y="1938528"/>
            <a:ext cx="1389888" cy="310896"/>
          </a:xfrm>
          <a:prstGeom prst="roundRect">
            <a:avLst/>
          </a:prstGeom>
          <a:solidFill>
            <a:srgbClr val="FFE5E5"/>
          </a:solidFill>
          <a:ln w="12700">
            <a:solidFill>
              <a:srgbClr val="FFE5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27264" y="2029968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POLICY IN CODE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99248" y="248716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Agent proposes.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Human authorizes.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699248" y="3355848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</a:rPr>
              <a:t>Financial, legal and externally visible actions require explicit approval before execution.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99248" y="42793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• SLA + remedy logic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0195560" y="42793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D4ED8"/>
                </a:solidFill>
              </a:rPr>
              <a:t>deterministic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99248" y="459943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• Approval state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0195560" y="45994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D4ED8"/>
                </a:solidFill>
              </a:rPr>
              <a:t>persisted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699248" y="491947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• Execution without approval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0195560" y="491947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D4ED8"/>
                </a:solidFill>
              </a:rPr>
              <a:t>blocked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699248" y="52395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• After action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0195560" y="523951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D4ED8"/>
                </a:solidFill>
              </a:rPr>
              <a:t>full audit trail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852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Now switching to the live app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76656" y="123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C7FF"/>
                </a:solidFill>
              </a:rPr>
              <a:t>One golden path. No side quests.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49808" y="18288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836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8196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Dashboard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21122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B0C6"/>
                </a:solidFill>
              </a:rPr>
              <a:t>Start from the Demo Ready landing screen.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9808" y="27432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7980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34440" y="27340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Golden SLA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3026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B0C6"/>
                </a:solidFill>
              </a:rPr>
              <a:t>99.9% commitment vs 99.4% evidence.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49808" y="36576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7124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34440" y="36484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Approval Queue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9410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B0C6"/>
                </a:solidFill>
              </a:rPr>
              <a:t>Review the $500 service-credit action.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" y="45720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6268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34440" y="4562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Audit Ledger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48554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B0C6"/>
                </a:solidFill>
              </a:rPr>
              <a:t>Show evidence → investigation → approval → execution.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166360" y="1325880"/>
            <a:ext cx="640080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B43"/>
            </a:solidFill>
            <a:prstDash val="solid"/>
          </a:ln>
        </p:spPr>
      </p:sp>
      <p:pic>
        <p:nvPicPr>
          <p:cNvPr id="21" name="Image 0" descr="/mnt/data/01_ClauseRunner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1808" y="1873377"/>
            <a:ext cx="6089904" cy="38061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71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Architecture: live AWS system, prepared model path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Solid = live verified. Dashed = prepared integrations pending AWS authorization.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11045952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5240" dist="50800" dir="2700000">
              <a:srgbClr val="B8C5D6">
                <a:alpha val="14000"/>
              </a:srgbClr>
            </a:outerShdw>
          </a:effectLst>
        </p:spPr>
      </p:sp>
      <p:pic>
        <p:nvPicPr>
          <p:cNvPr id="5" name="Image 0" descr="/mnt/data/clauserunner_aws_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3909" y="1481328"/>
            <a:ext cx="7993702" cy="44988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58368"/>
            <a:ext cx="1005840" cy="301752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E6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" y="749808"/>
            <a:ext cx="6583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CLOSING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58368" y="138988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</a:rPr>
              <a:t>ClauseRunner is not a contract chatbot.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76656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6"/>
                </a:solidFill>
              </a:rPr>
              <a:t>It is an operational agent pattern: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76656" y="2697480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8CC7FF"/>
                </a:solidFill>
              </a:rPr>
              <a:t>agentic investigation  +  deterministic policy  +  human authority  +  auditable execution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85800" y="3703320"/>
            <a:ext cx="3246120" cy="987552"/>
          </a:xfrm>
          <a:prstGeom prst="roundRect">
            <a:avLst/>
          </a:prstGeom>
          <a:solidFill>
            <a:srgbClr val="12213B"/>
          </a:solidFill>
          <a:ln w="12700">
            <a:solidFill>
              <a:srgbClr val="2842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39136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Professional impact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</a:rPr>
              <a:t>Less manual checking. Fewer missed remedies.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15384" y="3703320"/>
            <a:ext cx="3246120" cy="987552"/>
          </a:xfrm>
          <a:prstGeom prst="roundRect">
            <a:avLst/>
          </a:prstGeom>
          <a:solidFill>
            <a:srgbClr val="12213B"/>
          </a:solidFill>
          <a:ln w="12700">
            <a:solidFill>
              <a:srgbClr val="2842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39136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Bounded autonomy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</a:rPr>
              <a:t>Agents prepare. Humans approve consequences.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44968" y="3703320"/>
            <a:ext cx="3246120" cy="987552"/>
          </a:xfrm>
          <a:prstGeom prst="roundRect">
            <a:avLst/>
          </a:prstGeom>
          <a:solidFill>
            <a:srgbClr val="12213B"/>
          </a:solidFill>
          <a:ln w="12700">
            <a:solidFill>
              <a:srgbClr val="2842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39136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Live AWS workflow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946136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</a:rPr>
              <a:t>State, scheduling, logs, approvals and audit.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6656" y="59618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1718E"/>
                </a:solidFill>
              </a:rPr>
              <a:t>Live demo: cl-a7d669f525024e6a8413b2e0f7b851c8.ecs.us-east-1.on.aws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71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ClauseRunner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ClauseRunner — Demo Video Deck</dc:title>
  <dc:subject>ClauseRunner demo video deck</dc:subject>
  <dc:creator>OpenAI</dc:creator>
  <cp:lastModifiedBy>OpenAI</cp:lastModifiedBy>
  <cp:revision>1</cp:revision>
  <dcterms:created xsi:type="dcterms:W3CDTF">2026-09-13T23:37:02Z</dcterms:created>
  <dcterms:modified xsi:type="dcterms:W3CDTF">2026-09-13T23:37:02Z</dcterms:modified>
</cp:coreProperties>
</file>