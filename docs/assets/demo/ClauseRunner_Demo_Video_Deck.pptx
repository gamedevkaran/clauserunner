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56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ClauseRunner • Agents for Humans Hackathon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A0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1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for Humans Hackathon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171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A0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0" cy="310896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64922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PROFESSIONAL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ClauseRunner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Autonomous post-signature contract operations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with human-authorized execution.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C7FF"/>
                </a:solidFill>
              </a:rPr>
              <a:t>Built with Strands Agents SDK + AWS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328416"/>
            <a:ext cx="3749040" cy="0"/>
          </a:xfrm>
          <a:prstGeom prst="line">
            <a:avLst/>
          </a:prstGeom>
          <a:noFill/>
          <a:ln w="12700">
            <a:solidFill>
              <a:srgbClr val="2C5A9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35661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CA0B8"/>
                </a:solidFill>
              </a:rPr>
              <a:t>Video flow: problem → live workflow → architecture → close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713232"/>
            <a:ext cx="6400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B43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mnt/data/01_ClauseRunn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72184"/>
            <a:ext cx="6144768" cy="3840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04304" y="6216427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CA0B8"/>
                </a:solidFill>
              </a:rPr>
              <a:t>Live AWS-hosted demo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171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starts after signature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are signed once. Obligations keep running.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</a:rPr>
              <a:t>Most teams still monitor post-signature duties manually.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94767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SLAs, credits, renewals and compliance evidence live across PDFs, spreadsheets, inboxes and calendars.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85292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blurRad="19050" dist="50800" dir="2700000" algn="bl" rotWithShape="0">
              <a:srgbClr val="B8C5D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2852928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Missed remedies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3364992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Breaches can expire before anyone claims the credit.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85292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blurRad="19050" dist="50800" dir="2700000" algn="bl" rotWithShape="0">
              <a:srgbClr val="B8C5D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2852928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Manual monitoring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74720" y="3364992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People repeatedly re-check contracts instead of handling exceptions.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2793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blurRad="19050" dist="50800" dir="2700000" algn="bl" rotWithShape="0">
              <a:srgbClr val="B8C5D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8368" y="4279392"/>
            <a:ext cx="73152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86968" y="44439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Weak traceability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6968" y="4791456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Decisions become hard to reconstruct months later.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42793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blurRad="19050" dist="50800" dir="2700000" algn="bl" rotWithShape="0">
              <a:srgbClr val="B8C5D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46120" y="4279392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0" y="44439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Fragmented evidence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474720" y="4791456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Logs, approvals and follow-ups live in different systems.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1417320"/>
            <a:ext cx="553212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blurRad="19050" dist="50800" dir="2700000" algn="bl" rotWithShape="0">
              <a:srgbClr val="B8C5D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0" descr="/mnt/data/03_Human_Approval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050161"/>
            <a:ext cx="5303520" cy="316001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309360" y="590702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</a:rPr>
              <a:t>The work is repetitive, judgment-heavy and consequential.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A0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ClauseRunner turns contracts into active workflows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agentic path, with deterministic controls where it matters.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344168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Contract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39112" y="1682496"/>
            <a:ext cx="164592" cy="219456"/>
          </a:xfrm>
          <a:prstGeom prst="chevron">
            <a:avLst/>
          </a:prstGeom>
          <a:solidFill>
            <a:srgbClr val="9AA9BA"/>
          </a:solidFill>
          <a:ln w="12700">
            <a:solidFill>
              <a:srgbClr val="9AA9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49424" y="1508760"/>
            <a:ext cx="1344168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95144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Obligations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48456" y="1682496"/>
            <a:ext cx="164592" cy="219456"/>
          </a:xfrm>
          <a:prstGeom prst="chevron">
            <a:avLst/>
          </a:prstGeom>
          <a:solidFill>
            <a:srgbClr val="9AA9BA"/>
          </a:solidFill>
          <a:ln w="12700">
            <a:solidFill>
              <a:srgbClr val="9AA9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858768" y="1508760"/>
            <a:ext cx="1344168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04488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Evidence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57800" y="1682496"/>
            <a:ext cx="164592" cy="219456"/>
          </a:xfrm>
          <a:prstGeom prst="chevron">
            <a:avLst/>
          </a:prstGeom>
          <a:solidFill>
            <a:srgbClr val="9AA9BA"/>
          </a:solidFill>
          <a:ln w="12700">
            <a:solidFill>
              <a:srgbClr val="9AA9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68112" y="1508760"/>
            <a:ext cx="1344168" cy="566928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13832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Investigation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67144" y="1682496"/>
            <a:ext cx="164592" cy="219456"/>
          </a:xfrm>
          <a:prstGeom prst="chevron">
            <a:avLst/>
          </a:prstGeom>
          <a:solidFill>
            <a:srgbClr val="9AA9BA"/>
          </a:solidFill>
          <a:ln w="12700">
            <a:solidFill>
              <a:srgbClr val="9AA9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077456" y="1508760"/>
            <a:ext cx="1344168" cy="566928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23176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76488" y="1682496"/>
            <a:ext cx="164592" cy="219456"/>
          </a:xfrm>
          <a:prstGeom prst="chevron">
            <a:avLst/>
          </a:prstGeom>
          <a:solidFill>
            <a:srgbClr val="9AA9BA"/>
          </a:solidFill>
          <a:ln w="12700">
            <a:solidFill>
              <a:srgbClr val="9AA9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1508760"/>
            <a:ext cx="1344168" cy="566928"/>
          </a:xfrm>
          <a:prstGeom prst="roundRect">
            <a:avLst/>
          </a:prstGeom>
          <a:solidFill>
            <a:srgbClr val="E9FBF4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732520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Approval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85832" y="1682496"/>
            <a:ext cx="164592" cy="219456"/>
          </a:xfrm>
          <a:prstGeom prst="chevron">
            <a:avLst/>
          </a:prstGeom>
          <a:solidFill>
            <a:srgbClr val="9AA9BA"/>
          </a:solidFill>
          <a:ln w="12700">
            <a:solidFill>
              <a:srgbClr val="9AA9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296144" y="1508760"/>
            <a:ext cx="1344168" cy="566928"/>
          </a:xfrm>
          <a:prstGeom prst="roundRect">
            <a:avLst/>
          </a:prstGeom>
          <a:solidFill>
            <a:srgbClr val="E9FBF4"/>
          </a:solidFill>
          <a:ln w="12700">
            <a:solidFill>
              <a:srgbClr val="BFD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341864" y="16824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Audit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2487168"/>
            <a:ext cx="2423160" cy="13075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50392" y="2606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CONTRACTUAL SLA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" y="28346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D4ED8"/>
                </a:solidFill>
              </a:rPr>
              <a:t>99.9%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822960" y="332841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monthly uptime commitment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2487168"/>
            <a:ext cx="2423160" cy="130759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0" y="2606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OBSERVED EVIDENCE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0" y="28346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C2626"/>
                </a:solidFill>
              </a:rPr>
              <a:t>99.4%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3447288" y="332841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verified breach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34456" y="2487168"/>
            <a:ext cx="2423160" cy="1307592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FF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99048" y="2606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PROPOSED REMEDY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9048" y="28346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7706"/>
                </a:solidFill>
              </a:rPr>
              <a:t>$500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6071616" y="332841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10% service credit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58784" y="2487168"/>
            <a:ext cx="2423160" cy="1307592"/>
          </a:xfrm>
          <a:prstGeom prst="roundRect">
            <a:avLst/>
          </a:prstGeom>
          <a:solidFill>
            <a:srgbClr val="E9FBF4"/>
          </a:solidFill>
          <a:ln w="12700">
            <a:solidFill>
              <a:srgbClr val="E9FB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23376" y="2606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EXECUTION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723376" y="283464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9F6E"/>
                </a:solidFill>
              </a:rPr>
              <a:t>BLOCKED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695944" y="332841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until human approval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5800" y="4224528"/>
            <a:ext cx="109270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60120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Golden SLA demo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788920" y="44256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Evidence shows a breach. ClauseRunner prepares the remedy. Policy-in-code prevents execution until approval is persisted.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88920" y="5184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Agentic investigation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74920" y="5184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Deterministic policy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114032" y="5184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9F6E"/>
                </a:solidFill>
              </a:rPr>
              <a:t>Human authority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144000" y="5184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Auditable outcome</a:t>
            </a:r>
            <a:endParaRPr lang="en-US" sz="11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A0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Autonomy is bounded by approval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can investigate and prepare. Consequential actions need human authority.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64008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blurRad="19050" dist="50800" dir="2700000" algn="bl" rotWithShape="0">
              <a:srgbClr val="B8C5D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mnt/data/03_Human_Approval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49831"/>
            <a:ext cx="6144768" cy="36612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42632" y="1627632"/>
            <a:ext cx="4251960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699248" y="1938528"/>
            <a:ext cx="1389888" cy="310896"/>
          </a:xfrm>
          <a:prstGeom prst="round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827264" y="20299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POLICY IN CODE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99248" y="24871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Agent proposes.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Human authorizes.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99248" y="3355848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Financial, legal and externally visible actions require explicit approval before execution.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99248" y="4279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SLA + remedy logic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195560" y="4279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D4ED8"/>
                </a:solidFill>
              </a:rPr>
              <a:t>deterministic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99248" y="4599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Approval state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195560" y="45994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D4ED8"/>
                </a:solidFill>
              </a:rPr>
              <a:t>persisted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99248" y="49194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Execution without approval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195560" y="49194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D4ED8"/>
                </a:solidFill>
              </a:rPr>
              <a:t>blocked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99248" y="52395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After action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195560" y="52395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D4ED8"/>
                </a:solidFill>
              </a:rPr>
              <a:t>full audit trail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A0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Now switching to the live app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C7FF"/>
                </a:solidFill>
              </a:rPr>
              <a:t>One golden path. No side quests.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49808" y="18288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8836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819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0C6"/>
                </a:solidFill>
              </a:rPr>
              <a:t>Start from the Demo Ready landing screen.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7432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27980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2734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Golden SLA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26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0C6"/>
                </a:solidFill>
              </a:rPr>
              <a:t>99.9% commitment vs 99.4% evidence.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36576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37124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6484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Approval Queue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941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0C6"/>
                </a:solidFill>
              </a:rPr>
              <a:t>Review the $500 service-credit action.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" y="45720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46268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4562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Audit Ledger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855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0C6"/>
                </a:solidFill>
              </a:rPr>
              <a:t>Show evidence → investigation → approval → execution.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66360" y="1325880"/>
            <a:ext cx="6400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B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0" descr="/mnt/data/01_ClauseRunn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873377"/>
            <a:ext cx="6089904" cy="38061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171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live AWS system, prepared model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 = live verified. Dashed = prepared integrations pending AWS authorization.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4595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B8C5D6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mnt/data/clauserunner_aws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09" y="1481328"/>
            <a:ext cx="7993702" cy="44988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A0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1005840" cy="301752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" y="749808"/>
            <a:ext cx="6583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CLOSING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ClauseRunner is not a contract chatbot.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76656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6"/>
                </a:solidFill>
              </a:rPr>
              <a:t>It is an operational agent pattern: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" y="26974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8CC7FF"/>
                </a:solidFill>
              </a:rPr>
              <a:t>agentic investigation  +  deterministic policy  +  human authority  +  auditable execution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3246120" cy="987552"/>
          </a:xfrm>
          <a:prstGeom prst="roundRect">
            <a:avLst/>
          </a:prstGeom>
          <a:solidFill>
            <a:srgbClr val="12213B"/>
          </a:solidFill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Professional impact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4224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0C6"/>
                </a:solidFill>
              </a:rPr>
              <a:t>Less manual checking. Fewer missed remedies.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15384" y="3703320"/>
            <a:ext cx="3246120" cy="987552"/>
          </a:xfrm>
          <a:prstGeom prst="roundRect">
            <a:avLst/>
          </a:prstGeom>
          <a:solidFill>
            <a:srgbClr val="12213B"/>
          </a:solidFill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16552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Bounded autonomy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4224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0C6"/>
                </a:solidFill>
              </a:rPr>
              <a:t>Agents prepare. Humans approve consequences.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44968" y="3703320"/>
            <a:ext cx="3246120" cy="987552"/>
          </a:xfrm>
          <a:prstGeom prst="roundRect">
            <a:avLst/>
          </a:prstGeom>
          <a:solidFill>
            <a:srgbClr val="12213B"/>
          </a:solidFill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46136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Live AWS workflow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46136" y="4224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0C6"/>
                </a:solidFill>
              </a:rPr>
              <a:t>State, scheduling, logs, approvals and audit.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596188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1718E"/>
                </a:solidFill>
              </a:rPr>
              <a:t>Live demo: cl-a7d669f525024e6a8413b2e0f7b851c8.ecs.us-east-1.on.aws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8309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171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428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ClauseRunner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ClauseRunner — Demo Video Deck</dc:title>
  <dc:subject>ClauseRunner demo video deck</dc:subject>
  <dc:creator>OpenAI</dc:creator>
  <cp:lastModifiedBy>Karan Sahu</cp:lastModifiedBy>
  <cp:revision>4</cp:revision>
  <dcterms:created xsi:type="dcterms:W3CDTF">2026-09-13T23:37:02Z</dcterms:created>
  <dcterms:modified xsi:type="dcterms:W3CDTF">2026-09-14T21:18:45Z</dcterms:modified>
</cp:coreProperties>
</file>